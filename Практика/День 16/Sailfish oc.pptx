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60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7D86-0D6A-4911-8231-739B2306C18F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0F18-0405-4C17-A751-486680475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70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7D86-0D6A-4911-8231-739B2306C18F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0F18-0405-4C17-A751-486680475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219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7D86-0D6A-4911-8231-739B2306C18F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0F18-0405-4C17-A751-486680475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0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7D86-0D6A-4911-8231-739B2306C18F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0F18-0405-4C17-A751-486680475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409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7D86-0D6A-4911-8231-739B2306C18F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0F18-0405-4C17-A751-486680475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499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7D86-0D6A-4911-8231-739B2306C18F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0F18-0405-4C17-A751-486680475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13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7D86-0D6A-4911-8231-739B2306C18F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0F18-0405-4C17-A751-486680475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523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7D86-0D6A-4911-8231-739B2306C18F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0F18-0405-4C17-A751-486680475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737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50000"/>
              <a:lumOff val="5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7D86-0D6A-4911-8231-739B2306C18F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0F18-0405-4C17-A751-486680475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707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7D86-0D6A-4911-8231-739B2306C18F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0F18-0405-4C17-A751-486680475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75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7D86-0D6A-4911-8231-739B2306C18F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0F18-0405-4C17-A751-486680475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98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fld id="{72177D86-0D6A-4911-8231-739B2306C18F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5C560F18-0405-4C17-A751-486680475B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8197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20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8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D1EE3-69EE-4C37-8DC0-60DB99B791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62872D-FFDA-4F20-84CC-5A77EB48A8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От </a:t>
            </a:r>
            <a:r>
              <a:rPr lang="ru-RU" dirty="0" err="1"/>
              <a:t>саши</a:t>
            </a:r>
            <a:r>
              <a:rPr lang="ru-RU" dirty="0"/>
              <a:t> </a:t>
            </a:r>
            <a:r>
              <a:rPr lang="ru-RU" dirty="0" err="1"/>
              <a:t>круснов</a:t>
            </a:r>
            <a:r>
              <a:rPr lang="ru-RU" dirty="0"/>
              <a:t> </a:t>
            </a:r>
            <a:r>
              <a:rPr lang="ru-RU" dirty="0" err="1"/>
              <a:t>великщй</a:t>
            </a:r>
            <a:endParaRPr lang="ru-RU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6A979DDE-0948-4A80-86D1-AD45D1032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637" y="989545"/>
            <a:ext cx="4671663" cy="3504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734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B98D0A0C-2178-4F67-A431-AFFD977CF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543" y="1634081"/>
            <a:ext cx="7095700" cy="335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D5ADB9E-5BB4-47F2-8ECB-4646C83C1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793" y="652496"/>
            <a:ext cx="7315200" cy="3255264"/>
          </a:xfrm>
        </p:spPr>
        <p:txBody>
          <a:bodyPr/>
          <a:lstStyle/>
          <a:p>
            <a:endParaRPr lang="ru-RU" sz="1050" dirty="0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0916BDBF-8164-4A09-8F8F-B3E20302F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55060" y="845443"/>
            <a:ext cx="2233947" cy="914400"/>
          </a:xfrm>
        </p:spPr>
        <p:txBody>
          <a:bodyPr>
            <a:noAutofit/>
          </a:bodyPr>
          <a:lstStyle/>
          <a:p>
            <a:r>
              <a:rPr lang="en-US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- 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Основные изменения и доработки в ОС </a:t>
            </a:r>
            <a:r>
              <a:rPr lang="ru-RU" sz="1000" dirty="0" err="1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Sailfish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 5.0:</a:t>
            </a:r>
          </a:p>
          <a:p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 </a:t>
            </a:r>
            <a:r>
              <a:rPr lang="en-US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- 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 добавлена поддержка персонального AI‑ассистента </a:t>
            </a:r>
            <a:r>
              <a:rPr lang="ru-RU" sz="1000" dirty="0" err="1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Jolla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 Mind2 и смартфона </a:t>
            </a:r>
            <a:r>
              <a:rPr lang="ru-RU" sz="1000" dirty="0" err="1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Jolla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 C2 (основан на турецком смартфоне </a:t>
            </a:r>
            <a:r>
              <a:rPr lang="ru-RU" sz="1000" dirty="0" err="1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Reeder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 S19 Max Pro S);</a:t>
            </a:r>
          </a:p>
          <a:p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добавлена поддержка VPN </a:t>
            </a:r>
            <a:r>
              <a:rPr lang="ru-RU" sz="1000" dirty="0" err="1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WireGuard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;</a:t>
            </a:r>
          </a:p>
          <a:p>
            <a:r>
              <a:rPr lang="en-US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- 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реализован новый ландшафтный режим;</a:t>
            </a:r>
          </a:p>
          <a:p>
            <a:r>
              <a:rPr lang="en-US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- 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добавлена функция блокировки нежелательных звонков, позволяющая фильтровать входящие вызовы с заданных номеров;</a:t>
            </a:r>
          </a:p>
          <a:p>
            <a:r>
              <a:rPr lang="en-US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- 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Web‑браузер </a:t>
            </a:r>
            <a:r>
              <a:rPr lang="ru-RU" sz="1000" dirty="0" err="1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Sailfish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 </a:t>
            </a:r>
            <a:r>
              <a:rPr lang="ru-RU" sz="1000" dirty="0" err="1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Browser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 переведён на движок </a:t>
            </a:r>
            <a:r>
              <a:rPr lang="ru-RU" sz="1000" dirty="0" err="1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Gecko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 ESR91, соответствующий Firefox 91 (ведётся работа по обновлению до </a:t>
            </a:r>
            <a:r>
              <a:rPr lang="ru-RU" sz="1000" dirty="0" err="1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Gecko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 ESR102);</a:t>
            </a:r>
            <a:endParaRPr lang="en-US" sz="1000" dirty="0">
              <a:latin typeface="Artifakt Element Heavy" panose="020B0B03050000020004" pitchFamily="34" charset="-52"/>
              <a:ea typeface="Artifakt Element Heavy" panose="020B0B03050000020004" pitchFamily="34" charset="-52"/>
            </a:endParaRPr>
          </a:p>
          <a:p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 </a:t>
            </a:r>
            <a:r>
              <a:rPr lang="en-US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-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 прослойка для совместимости с </a:t>
            </a:r>
            <a:r>
              <a:rPr lang="ru-RU" sz="1000" dirty="0" err="1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Android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 обновлена до платформы </a:t>
            </a:r>
            <a:r>
              <a:rPr lang="ru-RU" sz="1000" dirty="0" err="1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Android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 13;</a:t>
            </a:r>
          </a:p>
          <a:p>
            <a:r>
              <a:rPr lang="en-US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- 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в состав включён пакет </a:t>
            </a:r>
            <a:r>
              <a:rPr lang="ru-RU" sz="1000" dirty="0" err="1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microG</a:t>
            </a:r>
            <a:r>
              <a:rPr lang="ru-RU" sz="1000" dirty="0">
                <a:latin typeface="Artifakt Element Heavy" panose="020B0B03050000020004" pitchFamily="34" charset="-52"/>
                <a:ea typeface="Artifakt Element Heavy" panose="020B0B03050000020004" pitchFamily="34" charset="-52"/>
              </a:rPr>
              <a:t> 0.3.6, предлагающий независимые аналоги сервисов Google. </a:t>
            </a:r>
          </a:p>
        </p:txBody>
      </p:sp>
    </p:spTree>
    <p:extLst>
      <p:ext uri="{BB962C8B-B14F-4D97-AF65-F5344CB8AC3E}">
        <p14:creationId xmlns:p14="http://schemas.microsoft.com/office/powerpoint/2010/main" val="304691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21D839-8F8F-4777-A219-95DF83E18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16422" y="2331852"/>
            <a:ext cx="2947482" cy="460118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E7C22A-789B-4B77-8A51-242B85AB9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/>
              <a:t>Sailfish</a:t>
            </a:r>
            <a:r>
              <a:rPr lang="ru-RU" dirty="0"/>
              <a:t> OS — операционная система, основанная на проектах с открытым исходным кодом и включающая компоненты с закрытым исходным кодом. </a:t>
            </a:r>
            <a:r>
              <a:rPr lang="ru-RU" dirty="0" err="1"/>
              <a:t>Sailfish</a:t>
            </a:r>
            <a:r>
              <a:rPr lang="ru-RU" dirty="0"/>
              <a:t> OS развивается с 2012 года финской компанией </a:t>
            </a:r>
            <a:r>
              <a:rPr lang="ru-RU" dirty="0" err="1"/>
              <a:t>Jolla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Android</a:t>
            </a:r>
            <a:r>
              <a:rPr lang="ru-RU" dirty="0"/>
              <a:t>-приложения в </a:t>
            </a:r>
            <a:r>
              <a:rPr lang="ru-RU" dirty="0" err="1"/>
              <a:t>Sailfish</a:t>
            </a:r>
            <a:r>
              <a:rPr lang="ru-RU" dirty="0"/>
              <a:t> OS могут устанавливать только владельцы официальных устройств. Владельцы устройств с </a:t>
            </a:r>
            <a:r>
              <a:rPr lang="ru-RU" dirty="0" err="1"/>
              <a:t>кастомными</a:t>
            </a:r>
            <a:r>
              <a:rPr lang="ru-RU" dirty="0"/>
              <a:t> прошивками (</a:t>
            </a:r>
            <a:r>
              <a:rPr lang="ru-RU" dirty="0" err="1"/>
              <a:t>Nexus</a:t>
            </a:r>
            <a:r>
              <a:rPr lang="ru-RU" dirty="0"/>
              <a:t> , </a:t>
            </a:r>
            <a:r>
              <a:rPr lang="ru-RU" dirty="0" err="1"/>
              <a:t>Moto</a:t>
            </a:r>
            <a:r>
              <a:rPr lang="ru-RU" dirty="0"/>
              <a:t> G, ZTE V8, Xiaomi </a:t>
            </a:r>
            <a:r>
              <a:rPr lang="ru-RU" dirty="0" err="1"/>
              <a:t>Redmi</a:t>
            </a:r>
            <a:r>
              <a:rPr lang="ru-RU" dirty="0"/>
              <a:t> X и другие) не могут устанавливать приложения </a:t>
            </a:r>
            <a:r>
              <a:rPr lang="ru-RU" dirty="0" err="1"/>
              <a:t>Android</a:t>
            </a:r>
            <a:r>
              <a:rPr lang="ru-RU" dirty="0"/>
              <a:t> и имеют доступ только к официальному магазину приложений и репозиторию «</a:t>
            </a:r>
            <a:r>
              <a:rPr lang="ru-RU" dirty="0" err="1"/>
              <a:t>WareHouse</a:t>
            </a:r>
            <a:r>
              <a:rPr lang="ru-RU" dirty="0"/>
              <a:t>». Это связано с тем, что в этих прошивках отсутствует </a:t>
            </a:r>
            <a:r>
              <a:rPr lang="ru-RU" dirty="0" err="1"/>
              <a:t>Dalvik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Операционная система основывается на </a:t>
            </a:r>
            <a:r>
              <a:rPr lang="ru-RU" dirty="0" err="1"/>
              <a:t>Mer</a:t>
            </a:r>
            <a:r>
              <a:rPr lang="ru-RU" dirty="0"/>
              <a:t> и на фреймворке </a:t>
            </a:r>
            <a:r>
              <a:rPr lang="ru-RU" dirty="0" err="1"/>
              <a:t>Qt</a:t>
            </a:r>
            <a:r>
              <a:rPr lang="ru-RU" dirty="0"/>
              <a:t>. Пользовательский интерфейс формируется на QML и управляется </a:t>
            </a:r>
            <a:r>
              <a:rPr lang="ru-RU" dirty="0" err="1"/>
              <a:t>Wayland</a:t>
            </a:r>
            <a:r>
              <a:rPr lang="ru-RU" dirty="0"/>
              <a:t>. Для взаимодействия с сенсорами поддерживаются стандартные API </a:t>
            </a:r>
            <a:r>
              <a:rPr lang="ru-RU" dirty="0" err="1"/>
              <a:t>Qt</a:t>
            </a:r>
            <a:r>
              <a:rPr lang="ru-RU" dirty="0"/>
              <a:t>. </a:t>
            </a:r>
          </a:p>
        </p:txBody>
      </p:sp>
      <p:pic>
        <p:nvPicPr>
          <p:cNvPr id="3074" name="Picture 2" descr="Sailfish OS v3 announced: new devices support, features, and more!">
            <a:extLst>
              <a:ext uri="{FF2B5EF4-FFF2-40B4-BE49-F238E27FC236}">
                <a16:creationId xmlns:a16="http://schemas.microsoft.com/office/drawing/2014/main" id="{2AEE27CA-7C19-4F75-8022-CEA8A78E2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72" y="1198446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ailfish OS: An Open-Source Mobile Operating System">
            <a:extLst>
              <a:ext uri="{FF2B5EF4-FFF2-40B4-BE49-F238E27FC236}">
                <a16:creationId xmlns:a16="http://schemas.microsoft.com/office/drawing/2014/main" id="{5E0941C1-8411-40C8-B7C1-6B67F400A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72" y="3765478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224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227F86-951D-458D-BF12-861AAE64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636568-E17A-4D01-B9C5-6999B0A18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21—22 ноября 2012 года в Хельсинки на мероприятии </a:t>
            </a:r>
            <a:r>
              <a:rPr lang="ru-RU" dirty="0" err="1"/>
              <a:t>Slush</a:t>
            </a:r>
            <a:r>
              <a:rPr lang="ru-RU" dirty="0"/>
              <a:t> состоялась первая публичная презентация операционной системы для смартфонов финской фирмы </a:t>
            </a:r>
            <a:r>
              <a:rPr lang="ru-RU" dirty="0" err="1"/>
              <a:t>Jolla</a:t>
            </a:r>
            <a:r>
              <a:rPr lang="ru-RU" dirty="0"/>
              <a:t>. 20 мая 2013 состоялась презентация первого смартфона фирмы </a:t>
            </a:r>
            <a:r>
              <a:rPr lang="ru-RU" dirty="0" err="1"/>
              <a:t>Jolla</a:t>
            </a:r>
            <a:r>
              <a:rPr lang="ru-RU" dirty="0"/>
              <a:t> на основе операционной системы </a:t>
            </a:r>
            <a:r>
              <a:rPr lang="ru-RU" dirty="0" err="1"/>
              <a:t>Sailfish</a:t>
            </a:r>
            <a:r>
              <a:rPr lang="ru-RU" dirty="0"/>
              <a:t>. В марте 2018 года Ростелеком приобрел 75 % акции компании «Открытая мобильная платформа», а в мае 2018 министр связи РФ Николай Никифоров заявил о том, что сделка завершена и создан коммерческий </a:t>
            </a:r>
            <a:r>
              <a:rPr lang="ru-RU" dirty="0" err="1"/>
              <a:t>форк</a:t>
            </a:r>
            <a:r>
              <a:rPr lang="ru-RU" dirty="0"/>
              <a:t> операционной системы </a:t>
            </a:r>
            <a:r>
              <a:rPr lang="ru-RU" dirty="0" err="1"/>
              <a:t>Sailfish</a:t>
            </a:r>
            <a:r>
              <a:rPr lang="ru-RU" dirty="0"/>
              <a:t> под брендом Аврора ОС, который официально считается российским. Планируется, что с 2019 по 2021 годы на смартфоны с ОС Аврора от «Ростелекома» должны перейти 7,9 млн сотрудников госорганов, бюджетных учреждений и компаний с госучастием, что обойдется в 160 млрд рублей.</a:t>
            </a:r>
          </a:p>
          <a:p>
            <a:endParaRPr lang="ru-RU" dirty="0"/>
          </a:p>
          <a:p>
            <a:r>
              <a:rPr lang="ru-RU" dirty="0"/>
              <a:t>4 апреля 2019 было объявлено об объединении </a:t>
            </a:r>
            <a:r>
              <a:rPr lang="ru-RU" dirty="0" err="1"/>
              <a:t>Sailfish</a:t>
            </a:r>
            <a:r>
              <a:rPr lang="ru-RU" dirty="0"/>
              <a:t> OS с открытым проектом </a:t>
            </a:r>
            <a:r>
              <a:rPr lang="ru-RU" dirty="0" err="1"/>
              <a:t>Mer</a:t>
            </a:r>
            <a:r>
              <a:rPr lang="ru-RU" dirty="0"/>
              <a:t>. </a:t>
            </a:r>
          </a:p>
        </p:txBody>
      </p:sp>
      <p:pic>
        <p:nvPicPr>
          <p:cNvPr id="4098" name="Picture 2" descr="Sailfish OS - European alternative for Mobile operating systems">
            <a:extLst>
              <a:ext uri="{FF2B5EF4-FFF2-40B4-BE49-F238E27FC236}">
                <a16:creationId xmlns:a16="http://schemas.microsoft.com/office/drawing/2014/main" id="{18102967-7CAF-44E6-8DE7-4BACD91BD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19" y="967305"/>
            <a:ext cx="2916425" cy="492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66849"/>
      </p:ext>
    </p:extLst>
  </p:cSld>
  <p:clrMapOvr>
    <a:masterClrMapping/>
  </p:clrMapOvr>
</p:sld>
</file>

<file path=ppt/theme/theme1.xml><?xml version="1.0" encoding="utf-8"?>
<a:theme xmlns:a="http://schemas.openxmlformats.org/drawingml/2006/main" name="Рамка">
  <a:themeElements>
    <a:clrScheme name="Красный и фиолетовый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Рамка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Рамка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9935E573-C197-41A8-BCA1-5D5F62C560B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TM03457475[[fn=Рамка]]</Template>
  <TotalTime>46</TotalTime>
  <Words>372</Words>
  <Application>Microsoft Office PowerPoint</Application>
  <PresentationFormat>Широкоэкранный</PresentationFormat>
  <Paragraphs>17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Artifakt Element Heavy</vt:lpstr>
      <vt:lpstr>Corbel</vt:lpstr>
      <vt:lpstr>Wingdings 2</vt:lpstr>
      <vt:lpstr>Рамка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Ермаченко Александра</dc:creator>
  <cp:lastModifiedBy>Ермаченко Александра</cp:lastModifiedBy>
  <cp:revision>2</cp:revision>
  <dcterms:created xsi:type="dcterms:W3CDTF">2026-02-21T08:41:16Z</dcterms:created>
  <dcterms:modified xsi:type="dcterms:W3CDTF">2026-02-21T09:28:16Z</dcterms:modified>
</cp:coreProperties>
</file>